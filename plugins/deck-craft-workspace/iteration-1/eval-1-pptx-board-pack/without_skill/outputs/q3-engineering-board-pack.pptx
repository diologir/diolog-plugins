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p95 latency (ms)</c:v>
                </c:pt>
              </c:strCache>
            </c:strRef>
          </c:tx>
          <c:spPr>
            <a:solidFill>
              <a:srgbClr val="1D4ED8"/>
            </a:solidFill>
          </c:spPr>
          <c:dPt>
            <c:idx val="0"/>
            <c:spPr>
              <a:solidFill>
                <a:srgbClr val="CBD5E1"/>
              </a:solidFill>
            </c:spPr>
          </c:dPt>
          <c:dPt>
            <c:idx val="1"/>
            <c:spPr>
              <a:solidFill>
                <a:srgbClr val="1D4ED8"/>
              </a:solidFill>
            </c:spPr>
          </c:dPt>
          <c:cat>
            <c:strRef>
              <c:f>Sheet1!$A$2:$A$3</c:f>
              <c:strCache>
                <c:ptCount val="2"/>
                <c:pt idx="0">
                  <c:v>Before (Q2 exit)</c:v>
                </c:pt>
                <c:pt idx="1">
                  <c:v>After (Q3 exit)</c:v>
                </c:pt>
              </c:strCache>
            </c:strRef>
          </c:cat>
          <c:val>
            <c:numRef>
              <c:f>Sheet1!$B$2:$B$3</c:f>
              <c:numCache>
                <c:formatCode>General</c:formatCode>
                <c:ptCount val="2"/>
                <c:pt idx="0">
                  <c:v>840</c:v>
                </c:pt>
                <c:pt idx="1">
                  <c:v>210</c:v>
                </c:pt>
              </c:numCache>
            </c:numRef>
          </c:val>
        </c:ser>
        <c:dLbls>
          <c:txPr>
            <a:bodyPr/>
            <a:lstStyle/>
            <a:p>
              <a:pPr>
                <a:defRPr sz="1400" b="1">
                  <a:solidFill>
                    <a:srgbClr val="0F172A"/>
                  </a:solidFill>
                  <a:latin typeface="Calibri"/>
                </a:defRPr>
              </a:pPr>
            </a:p>
          </c:txPr>
          <c:dLblPos val="outEnd"/>
          <c:showLegendKey val="0"/>
          <c:showVal val="1"/>
          <c:showCatName val="0"/>
          <c:showSerName val="0"/>
          <c:showPercent val="0"/>
          <c:showBubbleSize val="0"/>
          <c:showLeaderLines val="1"/>
        </c:dLbls>
        <c:gapWidth val="120"/>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200">
                <a:solidFill>
                  <a:srgbClr val="64748B"/>
                </a:solidFill>
                <a:latin typeface="Calibr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 a delivery quarter. One major system shipped (auth), the platform got materially faster, the team grew, and reliability held with two contained incidents. Q4 is a single-focus quarter: getting off the legacy queue.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discussion on these four numbers. If the board only remembers one thing, make it the latency step-change and that auth is done. Flag the 4 hours of downtime here rather than letting it surface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 was the quarter's flagship. Key point for the board: it is a full replacement in production, not a partial rollout, so there is no second migration hiding behind it. Be ready for a question on what it unlocks commercially.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Latency is the clearest win of the quarter: p95 840ms to 210ms, a 75% reduction. Present the two incidents in the same breath — both resolved, four hours of downtime in aggregate across the quarter. Expect questions on root cause and on whether the auth or latency work contributed; have that detail ready verbally, it is deliberately not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a single, unambiguous Q4 commitment: get off the legacy queue. Tie it back to the headcount growth so the board sees the Q3 hiring converting into Q4 capacity. Be explicit that migration risk is real and being planned for — no dates or cost figures are on this slide because none were provided.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1417320"/>
            <a:ext cx="8686800" cy="274320"/>
          </a:xfrm>
          <a:prstGeom prst="rect">
            <a:avLst/>
          </a:prstGeom>
          <a:noFill/>
        </p:spPr>
        <p:txBody>
          <a:bodyPr wrap="square" lIns="0" rIns="0" tIns="0" bIns="0" anchor="t">
            <a:spAutoFit/>
          </a:bodyPr>
          <a:lstStyle/>
          <a:p>
            <a:pPr algn="l">
              <a:spcBef>
                <a:spcPts val="0"/>
              </a:spcBef>
              <a:spcAft>
                <a:spcPts val="0"/>
              </a:spcAft>
            </a:pPr>
            <a:r>
              <a:rPr sz="1300" b="1" cap="all">
                <a:solidFill>
                  <a:srgbClr val="93C5FD"/>
                </a:solidFill>
                <a:latin typeface="Calibri"/>
              </a:rPr>
              <a:t>Board Pack  |  Quarter 3, FY26</a:t>
            </a:r>
          </a:p>
        </p:txBody>
      </p:sp>
      <p:sp>
        <p:nvSpPr>
          <p:cNvPr id="5" name="TextBox 4"/>
          <p:cNvSpPr txBox="1"/>
          <p:nvPr/>
        </p:nvSpPr>
        <p:spPr>
          <a:xfrm>
            <a:off x="1051560" y="1874519"/>
            <a:ext cx="9326880" cy="1737360"/>
          </a:xfrm>
          <a:prstGeom prst="rect">
            <a:avLst/>
          </a:prstGeom>
          <a:noFill/>
        </p:spPr>
        <p:txBody>
          <a:bodyPr wrap="square" lIns="0" rIns="0" tIns="0" bIns="0" anchor="t">
            <a:spAutoFit/>
          </a:bodyPr>
          <a:lstStyle/>
          <a:p>
            <a:pPr algn="l">
              <a:lnSpc>
                <a:spcPct val="104000"/>
              </a:lnSpc>
              <a:spcBef>
                <a:spcPts val="0"/>
              </a:spcBef>
              <a:spcAft>
                <a:spcPts val="0"/>
              </a:spcAft>
            </a:pPr>
            <a:r>
              <a:rPr sz="5400" b="1">
                <a:solidFill>
                  <a:srgbClr val="FFFFFF"/>
                </a:solidFill>
                <a:latin typeface="Calibri"/>
              </a:rPr>
              <a:t>Q3 Engineering Update</a:t>
            </a:r>
          </a:p>
          <a:p>
            <a:pPr>
              <a:lnSpc>
                <a:spcPct val="120000"/>
              </a:lnSpc>
              <a:spcBef>
                <a:spcPts val="1400"/>
              </a:spcBef>
              <a:spcAft>
                <a:spcPts val="0"/>
              </a:spcAft>
            </a:pPr>
            <a:r>
              <a:rPr sz="2000" b="0">
                <a:solidFill>
                  <a:srgbClr val="CBD5E1"/>
                </a:solidFill>
                <a:latin typeface="Calibri"/>
              </a:rPr>
              <a:t>Auth rebuild shipped, latency down 75%, team up to 17</a:t>
            </a:r>
          </a:p>
        </p:txBody>
      </p:sp>
      <p:sp>
        <p:nvSpPr>
          <p:cNvPr id="6" name="Rectangle 5"/>
          <p:cNvSpPr/>
          <p:nvPr/>
        </p:nvSpPr>
        <p:spPr>
          <a:xfrm>
            <a:off x="1051560" y="4041648"/>
            <a:ext cx="1280160" cy="28575"/>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51560" y="4434840"/>
            <a:ext cx="2121408" cy="365760"/>
          </a:xfrm>
          <a:prstGeom prst="rect">
            <a:avLst/>
          </a:prstGeom>
          <a:noFill/>
        </p:spPr>
        <p:txBody>
          <a:bodyPr wrap="square" lIns="0" rIns="0" tIns="0" bIns="0" anchor="t">
            <a:spAutoFit/>
          </a:bodyPr>
          <a:lstStyle/>
          <a:p>
            <a:pPr algn="l">
              <a:spcBef>
                <a:spcPts val="0"/>
              </a:spcBef>
              <a:spcAft>
                <a:spcPts val="0"/>
              </a:spcAft>
            </a:pPr>
            <a:r>
              <a:rPr sz="1800" b="1">
                <a:solidFill>
                  <a:srgbClr val="FFFFFF"/>
                </a:solidFill>
                <a:latin typeface="Calibri"/>
              </a:rPr>
              <a:t>New auth system</a:t>
            </a:r>
          </a:p>
        </p:txBody>
      </p:sp>
      <p:sp>
        <p:nvSpPr>
          <p:cNvPr id="8" name="TextBox 7"/>
          <p:cNvSpPr txBox="1"/>
          <p:nvPr/>
        </p:nvSpPr>
        <p:spPr>
          <a:xfrm>
            <a:off x="1051560" y="4828032"/>
            <a:ext cx="2121408" cy="274320"/>
          </a:xfrm>
          <a:prstGeom prst="rect">
            <a:avLst/>
          </a:prstGeom>
          <a:noFill/>
        </p:spPr>
        <p:txBody>
          <a:bodyPr wrap="square" lIns="0" rIns="0" tIns="0" bIns="0" anchor="t">
            <a:spAutoFit/>
          </a:bodyPr>
          <a:lstStyle/>
          <a:p>
            <a:pPr algn="l">
              <a:spcBef>
                <a:spcPts val="0"/>
              </a:spcBef>
              <a:spcAft>
                <a:spcPts val="0"/>
              </a:spcAft>
            </a:pPr>
            <a:r>
              <a:rPr sz="1150" b="0">
                <a:solidFill>
                  <a:srgbClr val="94A3B8"/>
                </a:solidFill>
                <a:latin typeface="Calibri"/>
              </a:rPr>
              <a:t>Shipped in quarter</a:t>
            </a:r>
          </a:p>
        </p:txBody>
      </p:sp>
      <p:sp>
        <p:nvSpPr>
          <p:cNvPr id="9" name="TextBox 8"/>
          <p:cNvSpPr txBox="1"/>
          <p:nvPr/>
        </p:nvSpPr>
        <p:spPr>
          <a:xfrm>
            <a:off x="3447288" y="4434840"/>
            <a:ext cx="2121408" cy="365760"/>
          </a:xfrm>
          <a:prstGeom prst="rect">
            <a:avLst/>
          </a:prstGeom>
          <a:noFill/>
        </p:spPr>
        <p:txBody>
          <a:bodyPr wrap="square" lIns="0" rIns="0" tIns="0" bIns="0" anchor="t">
            <a:spAutoFit/>
          </a:bodyPr>
          <a:lstStyle/>
          <a:p>
            <a:pPr algn="l">
              <a:spcBef>
                <a:spcPts val="0"/>
              </a:spcBef>
              <a:spcAft>
                <a:spcPts val="0"/>
              </a:spcAft>
            </a:pPr>
            <a:r>
              <a:rPr sz="1800" b="1">
                <a:solidFill>
                  <a:srgbClr val="FFFFFF"/>
                </a:solidFill>
                <a:latin typeface="Calibri"/>
              </a:rPr>
              <a:t>840ms → 210ms</a:t>
            </a:r>
          </a:p>
        </p:txBody>
      </p:sp>
      <p:sp>
        <p:nvSpPr>
          <p:cNvPr id="10" name="TextBox 9"/>
          <p:cNvSpPr txBox="1"/>
          <p:nvPr/>
        </p:nvSpPr>
        <p:spPr>
          <a:xfrm>
            <a:off x="3447288" y="4828032"/>
            <a:ext cx="2121408" cy="274320"/>
          </a:xfrm>
          <a:prstGeom prst="rect">
            <a:avLst/>
          </a:prstGeom>
          <a:noFill/>
        </p:spPr>
        <p:txBody>
          <a:bodyPr wrap="square" lIns="0" rIns="0" tIns="0" bIns="0" anchor="t">
            <a:spAutoFit/>
          </a:bodyPr>
          <a:lstStyle/>
          <a:p>
            <a:pPr algn="l">
              <a:spcBef>
                <a:spcPts val="0"/>
              </a:spcBef>
              <a:spcAft>
                <a:spcPts val="0"/>
              </a:spcAft>
            </a:pPr>
            <a:r>
              <a:rPr sz="1150" b="0">
                <a:solidFill>
                  <a:srgbClr val="94A3B8"/>
                </a:solidFill>
                <a:latin typeface="Calibri"/>
              </a:rPr>
              <a:t>p95 latency</a:t>
            </a:r>
          </a:p>
        </p:txBody>
      </p:sp>
      <p:sp>
        <p:nvSpPr>
          <p:cNvPr id="11" name="TextBox 10"/>
          <p:cNvSpPr txBox="1"/>
          <p:nvPr/>
        </p:nvSpPr>
        <p:spPr>
          <a:xfrm>
            <a:off x="5843016" y="4434840"/>
            <a:ext cx="2121408" cy="365760"/>
          </a:xfrm>
          <a:prstGeom prst="rect">
            <a:avLst/>
          </a:prstGeom>
          <a:noFill/>
        </p:spPr>
        <p:txBody>
          <a:bodyPr wrap="square" lIns="0" rIns="0" tIns="0" bIns="0" anchor="t">
            <a:spAutoFit/>
          </a:bodyPr>
          <a:lstStyle/>
          <a:p>
            <a:pPr algn="l">
              <a:spcBef>
                <a:spcPts val="0"/>
              </a:spcBef>
              <a:spcAft>
                <a:spcPts val="0"/>
              </a:spcAft>
            </a:pPr>
            <a:r>
              <a:rPr sz="1800" b="1">
                <a:solidFill>
                  <a:srgbClr val="FFFFFF"/>
                </a:solidFill>
                <a:latin typeface="Calibri"/>
              </a:rPr>
              <a:t>14 → 17</a:t>
            </a:r>
          </a:p>
        </p:txBody>
      </p:sp>
      <p:sp>
        <p:nvSpPr>
          <p:cNvPr id="12" name="TextBox 11"/>
          <p:cNvSpPr txBox="1"/>
          <p:nvPr/>
        </p:nvSpPr>
        <p:spPr>
          <a:xfrm>
            <a:off x="5843016" y="4828032"/>
            <a:ext cx="2121408" cy="274320"/>
          </a:xfrm>
          <a:prstGeom prst="rect">
            <a:avLst/>
          </a:prstGeom>
          <a:noFill/>
        </p:spPr>
        <p:txBody>
          <a:bodyPr wrap="square" lIns="0" rIns="0" tIns="0" bIns="0" anchor="t">
            <a:spAutoFit/>
          </a:bodyPr>
          <a:lstStyle/>
          <a:p>
            <a:pPr algn="l">
              <a:spcBef>
                <a:spcPts val="0"/>
              </a:spcBef>
              <a:spcAft>
                <a:spcPts val="0"/>
              </a:spcAft>
            </a:pPr>
            <a:r>
              <a:rPr sz="1150" b="0">
                <a:solidFill>
                  <a:srgbClr val="94A3B8"/>
                </a:solidFill>
                <a:latin typeface="Calibri"/>
              </a:rPr>
              <a:t>Engineering headcount</a:t>
            </a:r>
          </a:p>
        </p:txBody>
      </p:sp>
      <p:sp>
        <p:nvSpPr>
          <p:cNvPr id="13" name="TextBox 12"/>
          <p:cNvSpPr txBox="1"/>
          <p:nvPr/>
        </p:nvSpPr>
        <p:spPr>
          <a:xfrm>
            <a:off x="8238744" y="4434840"/>
            <a:ext cx="2121408" cy="365760"/>
          </a:xfrm>
          <a:prstGeom prst="rect">
            <a:avLst/>
          </a:prstGeom>
          <a:noFill/>
        </p:spPr>
        <p:txBody>
          <a:bodyPr wrap="square" lIns="0" rIns="0" tIns="0" bIns="0" anchor="t">
            <a:spAutoFit/>
          </a:bodyPr>
          <a:lstStyle/>
          <a:p>
            <a:pPr algn="l">
              <a:spcBef>
                <a:spcPts val="0"/>
              </a:spcBef>
              <a:spcAft>
                <a:spcPts val="0"/>
              </a:spcAft>
            </a:pPr>
            <a:r>
              <a:rPr sz="1800" b="1">
                <a:solidFill>
                  <a:srgbClr val="FFFFFF"/>
                </a:solidFill>
                <a:latin typeface="Calibri"/>
              </a:rPr>
              <a:t>2 incidents</a:t>
            </a:r>
          </a:p>
        </p:txBody>
      </p:sp>
      <p:sp>
        <p:nvSpPr>
          <p:cNvPr id="14" name="TextBox 13"/>
          <p:cNvSpPr txBox="1"/>
          <p:nvPr/>
        </p:nvSpPr>
        <p:spPr>
          <a:xfrm>
            <a:off x="8238744" y="4828032"/>
            <a:ext cx="2121408" cy="274320"/>
          </a:xfrm>
          <a:prstGeom prst="rect">
            <a:avLst/>
          </a:prstGeom>
          <a:noFill/>
        </p:spPr>
        <p:txBody>
          <a:bodyPr wrap="square" lIns="0" rIns="0" tIns="0" bIns="0" anchor="t">
            <a:spAutoFit/>
          </a:bodyPr>
          <a:lstStyle/>
          <a:p>
            <a:pPr algn="l">
              <a:spcBef>
                <a:spcPts val="0"/>
              </a:spcBef>
              <a:spcAft>
                <a:spcPts val="0"/>
              </a:spcAft>
            </a:pPr>
            <a:r>
              <a:rPr sz="1150" b="0">
                <a:solidFill>
                  <a:srgbClr val="94A3B8"/>
                </a:solidFill>
                <a:latin typeface="Calibri"/>
              </a:rPr>
              <a:t>Resolved, 4h downtime</a:t>
            </a:r>
          </a:p>
        </p:txBody>
      </p:sp>
      <p:sp>
        <p:nvSpPr>
          <p:cNvPr id="15" name="TextBox 14"/>
          <p:cNvSpPr txBox="1"/>
          <p:nvPr/>
        </p:nvSpPr>
        <p:spPr>
          <a:xfrm>
            <a:off x="1051560" y="5989320"/>
            <a:ext cx="8229600" cy="274320"/>
          </a:xfrm>
          <a:prstGeom prst="rect">
            <a:avLst/>
          </a:prstGeom>
          <a:noFill/>
        </p:spPr>
        <p:txBody>
          <a:bodyPr wrap="square" lIns="0" rIns="0" tIns="0" bIns="0" anchor="t">
            <a:spAutoFit/>
          </a:bodyPr>
          <a:lstStyle/>
          <a:p>
            <a:pPr algn="l">
              <a:spcBef>
                <a:spcPts val="0"/>
              </a:spcBef>
              <a:spcAft>
                <a:spcPts val="0"/>
              </a:spcAft>
            </a:pPr>
            <a:r>
              <a:rPr sz="1150" b="0">
                <a:solidFill>
                  <a:srgbClr val="64748B"/>
                </a:solidFill>
                <a:latin typeface="Calibri"/>
              </a:rPr>
              <a:t>Prepared for the board  |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56032"/>
          </a:xfrm>
          <a:prstGeom prst="rect">
            <a:avLst/>
          </a:prstGeom>
          <a:noFill/>
        </p:spPr>
        <p:txBody>
          <a:bodyPr wrap="square" lIns="0" rIns="0" tIns="0" bIns="0" anchor="t">
            <a:spAutoFit/>
          </a:bodyPr>
          <a:lstStyle/>
          <a:p>
            <a:pPr algn="l">
              <a:spcBef>
                <a:spcPts val="0"/>
              </a:spcBef>
              <a:spcAft>
                <a:spcPts val="0"/>
              </a:spcAft>
            </a:pPr>
            <a:r>
              <a:rPr sz="1150" b="1" cap="all">
                <a:solidFill>
                  <a:srgbClr val="1D4ED8"/>
                </a:solidFill>
                <a:latin typeface="Calibri"/>
              </a:rPr>
              <a:t>Summary</a:t>
            </a:r>
          </a:p>
        </p:txBody>
      </p:sp>
      <p:sp>
        <p:nvSpPr>
          <p:cNvPr id="3" name="TextBox 2"/>
          <p:cNvSpPr txBox="1"/>
          <p:nvPr/>
        </p:nvSpPr>
        <p:spPr>
          <a:xfrm>
            <a:off x="777240" y="868680"/>
            <a:ext cx="10637215"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0F172A"/>
                </a:solidFill>
                <a:latin typeface="Calibri"/>
              </a:rPr>
              <a:t>Q3 at a glance</a:t>
            </a:r>
          </a:p>
        </p:txBody>
      </p:sp>
      <p:sp>
        <p:nvSpPr>
          <p:cNvPr id="4" name="TextBox 3"/>
          <p:cNvSpPr txBox="1"/>
          <p:nvPr/>
        </p:nvSpPr>
        <p:spPr>
          <a:xfrm>
            <a:off x="777240" y="1444752"/>
            <a:ext cx="10637215" cy="292608"/>
          </a:xfrm>
          <a:prstGeom prst="rect">
            <a:avLst/>
          </a:prstGeom>
          <a:noFill/>
        </p:spPr>
        <p:txBody>
          <a:bodyPr wrap="square" lIns="0" rIns="0" tIns="0" bIns="0" anchor="t">
            <a:spAutoFit/>
          </a:bodyPr>
          <a:lstStyle/>
          <a:p>
            <a:pPr algn="l">
              <a:lnSpc>
                <a:spcPct val="115000"/>
              </a:lnSpc>
              <a:spcBef>
                <a:spcPts val="0"/>
              </a:spcBef>
              <a:spcAft>
                <a:spcPts val="0"/>
              </a:spcAft>
            </a:pPr>
            <a:r>
              <a:rPr sz="1350" b="0">
                <a:solidFill>
                  <a:srgbClr val="64748B"/>
                </a:solidFill>
                <a:latin typeface="Calibri"/>
              </a:rPr>
              <a:t>Four numbers the board should take away from the quarter.</a:t>
            </a:r>
          </a:p>
        </p:txBody>
      </p:sp>
      <p:sp>
        <p:nvSpPr>
          <p:cNvPr id="5" name="Rectangle 4"/>
          <p:cNvSpPr/>
          <p:nvPr/>
        </p:nvSpPr>
        <p:spPr>
          <a:xfrm>
            <a:off x="777240" y="1874519"/>
            <a:ext cx="1063721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77240" y="2212848"/>
            <a:ext cx="2494711" cy="1627632"/>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7240" y="2212848"/>
            <a:ext cx="41148" cy="162763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69848" y="2487168"/>
            <a:ext cx="2000935" cy="219456"/>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Auth system</a:t>
            </a:r>
          </a:p>
        </p:txBody>
      </p:sp>
      <p:sp>
        <p:nvSpPr>
          <p:cNvPr id="9" name="TextBox 8"/>
          <p:cNvSpPr txBox="1"/>
          <p:nvPr/>
        </p:nvSpPr>
        <p:spPr>
          <a:xfrm>
            <a:off x="1069848" y="2779776"/>
            <a:ext cx="2000935" cy="566928"/>
          </a:xfrm>
          <a:prstGeom prst="rect">
            <a:avLst/>
          </a:prstGeom>
          <a:noFill/>
        </p:spPr>
        <p:txBody>
          <a:bodyPr wrap="square" lIns="0" rIns="0" tIns="0" bIns="0" anchor="t">
            <a:spAutoFit/>
          </a:bodyPr>
          <a:lstStyle/>
          <a:p>
            <a:pPr algn="l"/>
            <a:r>
              <a:rPr sz="4000" b="1">
                <a:solidFill>
                  <a:srgbClr val="0F172A"/>
                </a:solidFill>
                <a:latin typeface="Calibri"/>
              </a:rPr>
              <a:t>Shipped</a:t>
            </a:r>
          </a:p>
        </p:txBody>
      </p:sp>
      <p:sp>
        <p:nvSpPr>
          <p:cNvPr id="10" name="TextBox 9"/>
          <p:cNvSpPr txBox="1"/>
          <p:nvPr/>
        </p:nvSpPr>
        <p:spPr>
          <a:xfrm>
            <a:off x="1069848" y="3401568"/>
            <a:ext cx="2000935" cy="237744"/>
          </a:xfrm>
          <a:prstGeom prst="rect">
            <a:avLst/>
          </a:prstGeom>
          <a:noFill/>
        </p:spPr>
        <p:txBody>
          <a:bodyPr wrap="square" lIns="0" rIns="0" tIns="0" bIns="0" anchor="t">
            <a:spAutoFit/>
          </a:bodyPr>
          <a:lstStyle/>
          <a:p>
            <a:pPr algn="l">
              <a:spcBef>
                <a:spcPts val="0"/>
              </a:spcBef>
              <a:spcAft>
                <a:spcPts val="0"/>
              </a:spcAft>
            </a:pPr>
            <a:r>
              <a:rPr sz="1150" b="1">
                <a:solidFill>
                  <a:srgbClr val="047857"/>
                </a:solidFill>
                <a:latin typeface="Calibri"/>
              </a:rPr>
              <a:t>Delivered in quarter</a:t>
            </a:r>
          </a:p>
        </p:txBody>
      </p:sp>
      <p:sp>
        <p:nvSpPr>
          <p:cNvPr id="11" name="Rectangle 10"/>
          <p:cNvSpPr/>
          <p:nvPr/>
        </p:nvSpPr>
        <p:spPr>
          <a:xfrm>
            <a:off x="3491407" y="2212848"/>
            <a:ext cx="2494711" cy="1627632"/>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91407" y="2212848"/>
            <a:ext cx="41148" cy="162763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84015" y="2487168"/>
            <a:ext cx="2000935" cy="219456"/>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p95 latency</a:t>
            </a:r>
          </a:p>
        </p:txBody>
      </p:sp>
      <p:sp>
        <p:nvSpPr>
          <p:cNvPr id="14" name="TextBox 13"/>
          <p:cNvSpPr txBox="1"/>
          <p:nvPr/>
        </p:nvSpPr>
        <p:spPr>
          <a:xfrm>
            <a:off x="3784015" y="2779776"/>
            <a:ext cx="2000935" cy="566928"/>
          </a:xfrm>
          <a:prstGeom prst="rect">
            <a:avLst/>
          </a:prstGeom>
          <a:noFill/>
        </p:spPr>
        <p:txBody>
          <a:bodyPr wrap="square" lIns="0" rIns="0" tIns="0" bIns="0" anchor="t">
            <a:spAutoFit/>
          </a:bodyPr>
          <a:lstStyle/>
          <a:p>
            <a:pPr algn="l"/>
            <a:r>
              <a:rPr sz="4000" b="1">
                <a:solidFill>
                  <a:srgbClr val="0F172A"/>
                </a:solidFill>
                <a:latin typeface="Calibri"/>
              </a:rPr>
              <a:t>210</a:t>
            </a:r>
            <a:r>
              <a:rPr sz="1600" b="0">
                <a:solidFill>
                  <a:srgbClr val="64748B"/>
                </a:solidFill>
                <a:latin typeface="Calibri"/>
              </a:rPr>
              <a:t> ms</a:t>
            </a:r>
          </a:p>
        </p:txBody>
      </p:sp>
      <p:sp>
        <p:nvSpPr>
          <p:cNvPr id="15" name="TextBox 14"/>
          <p:cNvSpPr txBox="1"/>
          <p:nvPr/>
        </p:nvSpPr>
        <p:spPr>
          <a:xfrm>
            <a:off x="3784015" y="3401568"/>
            <a:ext cx="2000935" cy="237744"/>
          </a:xfrm>
          <a:prstGeom prst="rect">
            <a:avLst/>
          </a:prstGeom>
          <a:noFill/>
        </p:spPr>
        <p:txBody>
          <a:bodyPr wrap="square" lIns="0" rIns="0" tIns="0" bIns="0" anchor="t">
            <a:spAutoFit/>
          </a:bodyPr>
          <a:lstStyle/>
          <a:p>
            <a:pPr algn="l">
              <a:spcBef>
                <a:spcPts val="0"/>
              </a:spcBef>
              <a:spcAft>
                <a:spcPts val="0"/>
              </a:spcAft>
            </a:pPr>
            <a:r>
              <a:rPr sz="1150" b="1">
                <a:solidFill>
                  <a:srgbClr val="047857"/>
                </a:solidFill>
                <a:latin typeface="Calibri"/>
              </a:rPr>
              <a:t>↓ 75% from 840ms</a:t>
            </a:r>
          </a:p>
        </p:txBody>
      </p:sp>
      <p:sp>
        <p:nvSpPr>
          <p:cNvPr id="16" name="Rectangle 15"/>
          <p:cNvSpPr/>
          <p:nvPr/>
        </p:nvSpPr>
        <p:spPr>
          <a:xfrm>
            <a:off x="6205575" y="2212848"/>
            <a:ext cx="2494711" cy="1627632"/>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05575" y="2212848"/>
            <a:ext cx="41148" cy="162763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98183" y="2487168"/>
            <a:ext cx="2000935" cy="219456"/>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Engineering headcount</a:t>
            </a:r>
          </a:p>
        </p:txBody>
      </p:sp>
      <p:sp>
        <p:nvSpPr>
          <p:cNvPr id="19" name="TextBox 18"/>
          <p:cNvSpPr txBox="1"/>
          <p:nvPr/>
        </p:nvSpPr>
        <p:spPr>
          <a:xfrm>
            <a:off x="6498183" y="2779776"/>
            <a:ext cx="2000935" cy="566928"/>
          </a:xfrm>
          <a:prstGeom prst="rect">
            <a:avLst/>
          </a:prstGeom>
          <a:noFill/>
        </p:spPr>
        <p:txBody>
          <a:bodyPr wrap="square" lIns="0" rIns="0" tIns="0" bIns="0" anchor="t">
            <a:spAutoFit/>
          </a:bodyPr>
          <a:lstStyle/>
          <a:p>
            <a:pPr algn="l"/>
            <a:r>
              <a:rPr sz="4000" b="1">
                <a:solidFill>
                  <a:srgbClr val="0F172A"/>
                </a:solidFill>
                <a:latin typeface="Calibri"/>
              </a:rPr>
              <a:t>17</a:t>
            </a:r>
          </a:p>
        </p:txBody>
      </p:sp>
      <p:sp>
        <p:nvSpPr>
          <p:cNvPr id="20" name="TextBox 19"/>
          <p:cNvSpPr txBox="1"/>
          <p:nvPr/>
        </p:nvSpPr>
        <p:spPr>
          <a:xfrm>
            <a:off x="6498183" y="3401568"/>
            <a:ext cx="2000935" cy="237744"/>
          </a:xfrm>
          <a:prstGeom prst="rect">
            <a:avLst/>
          </a:prstGeom>
          <a:noFill/>
        </p:spPr>
        <p:txBody>
          <a:bodyPr wrap="square" lIns="0" rIns="0" tIns="0" bIns="0" anchor="t">
            <a:spAutoFit/>
          </a:bodyPr>
          <a:lstStyle/>
          <a:p>
            <a:pPr algn="l">
              <a:spcBef>
                <a:spcPts val="0"/>
              </a:spcBef>
              <a:spcAft>
                <a:spcPts val="0"/>
              </a:spcAft>
            </a:pPr>
            <a:r>
              <a:rPr sz="1150" b="1">
                <a:solidFill>
                  <a:srgbClr val="047857"/>
                </a:solidFill>
                <a:latin typeface="Calibri"/>
              </a:rPr>
              <a:t>↑ 3 from 14</a:t>
            </a:r>
          </a:p>
        </p:txBody>
      </p:sp>
      <p:sp>
        <p:nvSpPr>
          <p:cNvPr id="21" name="Rectangle 20"/>
          <p:cNvSpPr/>
          <p:nvPr/>
        </p:nvSpPr>
        <p:spPr>
          <a:xfrm>
            <a:off x="8919743" y="2212848"/>
            <a:ext cx="2494711" cy="1627632"/>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919743" y="2212848"/>
            <a:ext cx="41148" cy="162763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12351" y="2487168"/>
            <a:ext cx="2000935" cy="219456"/>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Incidents</a:t>
            </a:r>
          </a:p>
        </p:txBody>
      </p:sp>
      <p:sp>
        <p:nvSpPr>
          <p:cNvPr id="24" name="TextBox 23"/>
          <p:cNvSpPr txBox="1"/>
          <p:nvPr/>
        </p:nvSpPr>
        <p:spPr>
          <a:xfrm>
            <a:off x="9212351" y="2779776"/>
            <a:ext cx="2000935" cy="566928"/>
          </a:xfrm>
          <a:prstGeom prst="rect">
            <a:avLst/>
          </a:prstGeom>
          <a:noFill/>
        </p:spPr>
        <p:txBody>
          <a:bodyPr wrap="square" lIns="0" rIns="0" tIns="0" bIns="0" anchor="t">
            <a:spAutoFit/>
          </a:bodyPr>
          <a:lstStyle/>
          <a:p>
            <a:pPr algn="l"/>
            <a:r>
              <a:rPr sz="4000" b="1">
                <a:solidFill>
                  <a:srgbClr val="0F172A"/>
                </a:solidFill>
                <a:latin typeface="Calibri"/>
              </a:rPr>
              <a:t>2</a:t>
            </a:r>
          </a:p>
        </p:txBody>
      </p:sp>
      <p:sp>
        <p:nvSpPr>
          <p:cNvPr id="25" name="TextBox 24"/>
          <p:cNvSpPr txBox="1"/>
          <p:nvPr/>
        </p:nvSpPr>
        <p:spPr>
          <a:xfrm>
            <a:off x="9212351" y="3401568"/>
            <a:ext cx="2000935" cy="237744"/>
          </a:xfrm>
          <a:prstGeom prst="rect">
            <a:avLst/>
          </a:prstGeom>
          <a:noFill/>
        </p:spPr>
        <p:txBody>
          <a:bodyPr wrap="square" lIns="0" rIns="0" tIns="0" bIns="0" anchor="t">
            <a:spAutoFit/>
          </a:bodyPr>
          <a:lstStyle/>
          <a:p>
            <a:pPr algn="l">
              <a:spcBef>
                <a:spcPts val="0"/>
              </a:spcBef>
              <a:spcAft>
                <a:spcPts val="0"/>
              </a:spcAft>
            </a:pPr>
            <a:r>
              <a:rPr sz="1150" b="1">
                <a:solidFill>
                  <a:srgbClr val="B45309"/>
                </a:solidFill>
                <a:latin typeface="Calibri"/>
              </a:rPr>
              <a:t>Both resolved · 4h downtime</a:t>
            </a:r>
          </a:p>
        </p:txBody>
      </p:sp>
      <p:sp>
        <p:nvSpPr>
          <p:cNvPr id="26" name="Rectangle 25"/>
          <p:cNvSpPr/>
          <p:nvPr/>
        </p:nvSpPr>
        <p:spPr>
          <a:xfrm>
            <a:off x="777240" y="4187952"/>
            <a:ext cx="10637215" cy="1700784"/>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161288" y="4462272"/>
            <a:ext cx="9869119" cy="237744"/>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What it means</a:t>
            </a:r>
          </a:p>
        </p:txBody>
      </p:sp>
      <p:sp>
        <p:nvSpPr>
          <p:cNvPr id="28" name="TextBox 27"/>
          <p:cNvSpPr txBox="1"/>
          <p:nvPr/>
        </p:nvSpPr>
        <p:spPr>
          <a:xfrm>
            <a:off x="1161288" y="4791456"/>
            <a:ext cx="9869119" cy="914400"/>
          </a:xfrm>
          <a:prstGeom prst="rect">
            <a:avLst/>
          </a:prstGeom>
          <a:noFill/>
        </p:spPr>
        <p:txBody>
          <a:bodyPr wrap="square" lIns="0" rIns="0" tIns="0" bIns="0" anchor="t">
            <a:spAutoFit/>
          </a:bodyPr>
          <a:lstStyle/>
          <a:p>
            <a:pPr algn="l">
              <a:lnSpc>
                <a:spcPct val="128000"/>
              </a:lnSpc>
              <a:spcBef>
                <a:spcPts val="0"/>
              </a:spcBef>
              <a:spcAft>
                <a:spcPts val="0"/>
              </a:spcAft>
            </a:pPr>
            <a:r>
              <a:rPr sz="1400" b="0">
                <a:solidFill>
                  <a:srgbClr val="0F172A"/>
                </a:solidFill>
                <a:latin typeface="Calibri"/>
              </a:rPr>
              <a:t>—   The quarter's headline commitment — the new auth system — shipped, and the latency work landed alongside it.</a:t>
            </a:r>
          </a:p>
          <a:p>
            <a:pPr>
              <a:lnSpc>
                <a:spcPct val="128000"/>
              </a:lnSpc>
              <a:spcBef>
                <a:spcPts val="900"/>
              </a:spcBef>
              <a:spcAft>
                <a:spcPts val="0"/>
              </a:spcAft>
            </a:pPr>
            <a:r>
              <a:rPr sz="1400" b="0">
                <a:solidFill>
                  <a:srgbClr val="0F172A"/>
                </a:solidFill>
                <a:latin typeface="Calibri"/>
              </a:rPr>
              <a:t>—   Growth to 17 engineers is funding the Q4 legacy-queue migration without pausing feature delivery.</a:t>
            </a:r>
          </a:p>
          <a:p>
            <a:pPr>
              <a:lnSpc>
                <a:spcPct val="128000"/>
              </a:lnSpc>
              <a:spcBef>
                <a:spcPts val="900"/>
              </a:spcBef>
              <a:spcAft>
                <a:spcPts val="0"/>
              </a:spcAft>
            </a:pPr>
            <a:r>
              <a:rPr sz="1400" b="0">
                <a:solidFill>
                  <a:srgbClr val="0F172A"/>
                </a:solidFill>
                <a:latin typeface="Calibri"/>
              </a:rPr>
              <a:t>—   Reliability was acceptable but not free: two incidents, four hours of total downtime, both closed out.</a:t>
            </a:r>
          </a:p>
        </p:txBody>
      </p:sp>
      <p:sp>
        <p:nvSpPr>
          <p:cNvPr id="29" name="TextBox 28"/>
          <p:cNvSpPr txBox="1"/>
          <p:nvPr/>
        </p:nvSpPr>
        <p:spPr>
          <a:xfrm>
            <a:off x="777240" y="6272784"/>
            <a:ext cx="5486400" cy="237744"/>
          </a:xfrm>
          <a:prstGeom prst="rect">
            <a:avLst/>
          </a:prstGeom>
          <a:noFill/>
        </p:spPr>
        <p:txBody>
          <a:bodyPr wrap="square" lIns="0" rIns="0" tIns="0" bIns="0" anchor="t">
            <a:spAutoFit/>
          </a:bodyPr>
          <a:lstStyle/>
          <a:p>
            <a:pPr algn="l">
              <a:spcBef>
                <a:spcPts val="0"/>
              </a:spcBef>
              <a:spcAft>
                <a:spcPts val="0"/>
              </a:spcAft>
            </a:pPr>
            <a:r>
              <a:rPr sz="950" b="0">
                <a:solidFill>
                  <a:srgbClr val="94A3B8"/>
                </a:solidFill>
                <a:latin typeface="Calibri"/>
              </a:rPr>
              <a:t>Q3 FY26 Engineering Update  |  Board Pack  |  Confidential</a:t>
            </a:r>
          </a:p>
        </p:txBody>
      </p:sp>
      <p:sp>
        <p:nvSpPr>
          <p:cNvPr id="30" name="TextBox 29"/>
          <p:cNvSpPr txBox="1"/>
          <p:nvPr/>
        </p:nvSpPr>
        <p:spPr>
          <a:xfrm>
            <a:off x="10500055" y="6272784"/>
            <a:ext cx="914400" cy="237744"/>
          </a:xfrm>
          <a:prstGeom prst="rect">
            <a:avLst/>
          </a:prstGeom>
          <a:noFill/>
        </p:spPr>
        <p:txBody>
          <a:bodyPr wrap="square" lIns="0" rIns="0" tIns="0" bIns="0" anchor="t">
            <a:spAutoFit/>
          </a:bodyPr>
          <a:lstStyle/>
          <a:p>
            <a:pPr algn="r">
              <a:spcBef>
                <a:spcPts val="0"/>
              </a:spcBef>
              <a:spcAft>
                <a:spcPts val="0"/>
              </a:spcAft>
            </a:pPr>
            <a:r>
              <a:rPr sz="950" b="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56032"/>
          </a:xfrm>
          <a:prstGeom prst="rect">
            <a:avLst/>
          </a:prstGeom>
          <a:noFill/>
        </p:spPr>
        <p:txBody>
          <a:bodyPr wrap="square" lIns="0" rIns="0" tIns="0" bIns="0" anchor="t">
            <a:spAutoFit/>
          </a:bodyPr>
          <a:lstStyle/>
          <a:p>
            <a:pPr algn="l">
              <a:spcBef>
                <a:spcPts val="0"/>
              </a:spcBef>
              <a:spcAft>
                <a:spcPts val="0"/>
              </a:spcAft>
            </a:pPr>
            <a:r>
              <a:rPr sz="1150" b="1" cap="all">
                <a:solidFill>
                  <a:srgbClr val="1D4ED8"/>
                </a:solidFill>
                <a:latin typeface="Calibri"/>
              </a:rPr>
              <a:t>Delivery</a:t>
            </a:r>
          </a:p>
        </p:txBody>
      </p:sp>
      <p:sp>
        <p:nvSpPr>
          <p:cNvPr id="3" name="TextBox 2"/>
          <p:cNvSpPr txBox="1"/>
          <p:nvPr/>
        </p:nvSpPr>
        <p:spPr>
          <a:xfrm>
            <a:off x="777240" y="868680"/>
            <a:ext cx="10637215"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0F172A"/>
                </a:solidFill>
                <a:latin typeface="Calibri"/>
              </a:rPr>
              <a:t>Shipped: the new auth system</a:t>
            </a:r>
          </a:p>
        </p:txBody>
      </p:sp>
      <p:sp>
        <p:nvSpPr>
          <p:cNvPr id="4" name="TextBox 3"/>
          <p:cNvSpPr txBox="1"/>
          <p:nvPr/>
        </p:nvSpPr>
        <p:spPr>
          <a:xfrm>
            <a:off x="777240" y="1444752"/>
            <a:ext cx="10637215" cy="292608"/>
          </a:xfrm>
          <a:prstGeom prst="rect">
            <a:avLst/>
          </a:prstGeom>
          <a:noFill/>
        </p:spPr>
        <p:txBody>
          <a:bodyPr wrap="square" lIns="0" rIns="0" tIns="0" bIns="0" anchor="t">
            <a:spAutoFit/>
          </a:bodyPr>
          <a:lstStyle/>
          <a:p>
            <a:pPr algn="l">
              <a:lnSpc>
                <a:spcPct val="115000"/>
              </a:lnSpc>
              <a:spcBef>
                <a:spcPts val="0"/>
              </a:spcBef>
              <a:spcAft>
                <a:spcPts val="0"/>
              </a:spcAft>
            </a:pPr>
            <a:r>
              <a:rPr sz="1350" b="0">
                <a:solidFill>
                  <a:srgbClr val="64748B"/>
                </a:solidFill>
                <a:latin typeface="Calibri"/>
              </a:rPr>
              <a:t>The quarter's largest engineering commitment, delivered and in production.</a:t>
            </a:r>
          </a:p>
        </p:txBody>
      </p:sp>
      <p:sp>
        <p:nvSpPr>
          <p:cNvPr id="5" name="Rectangle 4"/>
          <p:cNvSpPr/>
          <p:nvPr/>
        </p:nvSpPr>
        <p:spPr>
          <a:xfrm>
            <a:off x="777240" y="1874519"/>
            <a:ext cx="1063721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2286000"/>
            <a:ext cx="6309360" cy="274320"/>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What landed</a:t>
            </a:r>
          </a:p>
        </p:txBody>
      </p:sp>
      <p:sp>
        <p:nvSpPr>
          <p:cNvPr id="7" name="TextBox 6"/>
          <p:cNvSpPr txBox="1"/>
          <p:nvPr/>
        </p:nvSpPr>
        <p:spPr>
          <a:xfrm>
            <a:off x="777240" y="2670048"/>
            <a:ext cx="6309360" cy="2834640"/>
          </a:xfrm>
          <a:prstGeom prst="rect">
            <a:avLst/>
          </a:prstGeom>
          <a:noFill/>
        </p:spPr>
        <p:txBody>
          <a:bodyPr wrap="square" lIns="0" rIns="0" tIns="0" bIns="0" anchor="t">
            <a:spAutoFit/>
          </a:bodyPr>
          <a:lstStyle/>
          <a:p>
            <a:pPr algn="l">
              <a:lnSpc>
                <a:spcPct val="128000"/>
              </a:lnSpc>
              <a:spcBef>
                <a:spcPts val="0"/>
              </a:spcBef>
              <a:spcAft>
                <a:spcPts val="0"/>
              </a:spcAft>
            </a:pPr>
            <a:r>
              <a:rPr sz="1400" b="0">
                <a:solidFill>
                  <a:srgbClr val="0F172A"/>
                </a:solidFill>
                <a:latin typeface="Calibri"/>
              </a:rPr>
              <a:t>—   The new authentication system is live and carrying production traffic.</a:t>
            </a:r>
          </a:p>
          <a:p>
            <a:pPr>
              <a:lnSpc>
                <a:spcPct val="128000"/>
              </a:lnSpc>
              <a:spcBef>
                <a:spcPts val="900"/>
              </a:spcBef>
              <a:spcAft>
                <a:spcPts val="0"/>
              </a:spcAft>
            </a:pPr>
            <a:r>
              <a:rPr sz="1400" b="0">
                <a:solidFill>
                  <a:srgbClr val="0F172A"/>
                </a:solidFill>
                <a:latin typeface="Calibri"/>
              </a:rPr>
              <a:t>—   It replaces the previous implementation end to end — no parallel legacy auth path is left running.</a:t>
            </a:r>
          </a:p>
          <a:p>
            <a:pPr>
              <a:lnSpc>
                <a:spcPct val="128000"/>
              </a:lnSpc>
              <a:spcBef>
                <a:spcPts val="900"/>
              </a:spcBef>
              <a:spcAft>
                <a:spcPts val="0"/>
              </a:spcAft>
            </a:pPr>
            <a:r>
              <a:rPr sz="1400" b="0">
                <a:solidFill>
                  <a:srgbClr val="0F172A"/>
                </a:solidFill>
                <a:latin typeface="Calibri"/>
              </a:rPr>
              <a:t>—   Delivered inside the quarter, alongside the latency programme rather than in place of it.</a:t>
            </a:r>
          </a:p>
          <a:p>
            <a:pPr>
              <a:lnSpc>
                <a:spcPct val="128000"/>
              </a:lnSpc>
              <a:spcBef>
                <a:spcPts val="900"/>
              </a:spcBef>
              <a:spcAft>
                <a:spcPts val="0"/>
              </a:spcAft>
            </a:pPr>
            <a:r>
              <a:rPr sz="1400" b="0">
                <a:solidFill>
                  <a:srgbClr val="0F172A"/>
                </a:solidFill>
                <a:latin typeface="Calibri"/>
              </a:rPr>
              <a:t>—   Gives us a single, consistent place to make future identity and access changes.</a:t>
            </a:r>
          </a:p>
        </p:txBody>
      </p:sp>
      <p:sp>
        <p:nvSpPr>
          <p:cNvPr id="8" name="Rectangle 7"/>
          <p:cNvSpPr/>
          <p:nvPr/>
        </p:nvSpPr>
        <p:spPr>
          <a:xfrm>
            <a:off x="7498080" y="2286000"/>
            <a:ext cx="3916375" cy="32461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63840" y="2596896"/>
            <a:ext cx="3184855" cy="237744"/>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Status</a:t>
            </a:r>
          </a:p>
        </p:txBody>
      </p:sp>
      <p:sp>
        <p:nvSpPr>
          <p:cNvPr id="10" name="TextBox 9"/>
          <p:cNvSpPr txBox="1"/>
          <p:nvPr/>
        </p:nvSpPr>
        <p:spPr>
          <a:xfrm>
            <a:off x="7863840" y="2926080"/>
            <a:ext cx="3184855" cy="548640"/>
          </a:xfrm>
          <a:prstGeom prst="rect">
            <a:avLst/>
          </a:prstGeom>
          <a:noFill/>
        </p:spPr>
        <p:txBody>
          <a:bodyPr wrap="square" lIns="0" rIns="0" tIns="0" bIns="0" anchor="t">
            <a:spAutoFit/>
          </a:bodyPr>
          <a:lstStyle/>
          <a:p>
            <a:pPr algn="l">
              <a:spcBef>
                <a:spcPts val="0"/>
              </a:spcBef>
              <a:spcAft>
                <a:spcPts val="0"/>
              </a:spcAft>
            </a:pPr>
            <a:r>
              <a:rPr sz="3600" b="1">
                <a:solidFill>
                  <a:srgbClr val="047857"/>
                </a:solidFill>
                <a:latin typeface="Calibri"/>
              </a:rPr>
              <a:t>Shipped</a:t>
            </a:r>
          </a:p>
        </p:txBody>
      </p:sp>
      <p:sp>
        <p:nvSpPr>
          <p:cNvPr id="11" name="Rectangle 10"/>
          <p:cNvSpPr/>
          <p:nvPr/>
        </p:nvSpPr>
        <p:spPr>
          <a:xfrm>
            <a:off x="7863840" y="3584448"/>
            <a:ext cx="31848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0" y="3822192"/>
            <a:ext cx="1371600" cy="256032"/>
          </a:xfrm>
          <a:prstGeom prst="rect">
            <a:avLst/>
          </a:prstGeom>
          <a:noFill/>
        </p:spPr>
        <p:txBody>
          <a:bodyPr wrap="square" lIns="0" rIns="0" tIns="0" bIns="0" anchor="t">
            <a:spAutoFit/>
          </a:bodyPr>
          <a:lstStyle/>
          <a:p>
            <a:pPr algn="l">
              <a:spcBef>
                <a:spcPts val="0"/>
              </a:spcBef>
              <a:spcAft>
                <a:spcPts val="0"/>
              </a:spcAft>
            </a:pPr>
            <a:r>
              <a:rPr sz="1150" b="0">
                <a:solidFill>
                  <a:srgbClr val="64748B"/>
                </a:solidFill>
                <a:latin typeface="Calibri"/>
              </a:rPr>
              <a:t>Scope</a:t>
            </a:r>
          </a:p>
        </p:txBody>
      </p:sp>
      <p:sp>
        <p:nvSpPr>
          <p:cNvPr id="13" name="TextBox 12"/>
          <p:cNvSpPr txBox="1"/>
          <p:nvPr/>
        </p:nvSpPr>
        <p:spPr>
          <a:xfrm>
            <a:off x="9281160" y="3822192"/>
            <a:ext cx="1767535" cy="256032"/>
          </a:xfrm>
          <a:prstGeom prst="rect">
            <a:avLst/>
          </a:prstGeom>
          <a:noFill/>
        </p:spPr>
        <p:txBody>
          <a:bodyPr wrap="square" lIns="0" rIns="0" tIns="0" bIns="0" anchor="t">
            <a:spAutoFit/>
          </a:bodyPr>
          <a:lstStyle/>
          <a:p>
            <a:pPr algn="r">
              <a:spcBef>
                <a:spcPts val="0"/>
              </a:spcBef>
              <a:spcAft>
                <a:spcPts val="0"/>
              </a:spcAft>
            </a:pPr>
            <a:r>
              <a:rPr sz="1150" b="1">
                <a:solidFill>
                  <a:srgbClr val="0F172A"/>
                </a:solidFill>
                <a:latin typeface="Calibri"/>
              </a:rPr>
              <a:t>Full replacement</a:t>
            </a:r>
          </a:p>
        </p:txBody>
      </p:sp>
      <p:sp>
        <p:nvSpPr>
          <p:cNvPr id="14" name="TextBox 13"/>
          <p:cNvSpPr txBox="1"/>
          <p:nvPr/>
        </p:nvSpPr>
        <p:spPr>
          <a:xfrm>
            <a:off x="7863840" y="4297680"/>
            <a:ext cx="1371600" cy="256032"/>
          </a:xfrm>
          <a:prstGeom prst="rect">
            <a:avLst/>
          </a:prstGeom>
          <a:noFill/>
        </p:spPr>
        <p:txBody>
          <a:bodyPr wrap="square" lIns="0" rIns="0" tIns="0" bIns="0" anchor="t">
            <a:spAutoFit/>
          </a:bodyPr>
          <a:lstStyle/>
          <a:p>
            <a:pPr algn="l">
              <a:spcBef>
                <a:spcPts val="0"/>
              </a:spcBef>
              <a:spcAft>
                <a:spcPts val="0"/>
              </a:spcAft>
            </a:pPr>
            <a:r>
              <a:rPr sz="1150" b="0">
                <a:solidFill>
                  <a:srgbClr val="64748B"/>
                </a:solidFill>
                <a:latin typeface="Calibri"/>
              </a:rPr>
              <a:t>State</a:t>
            </a:r>
          </a:p>
        </p:txBody>
      </p:sp>
      <p:sp>
        <p:nvSpPr>
          <p:cNvPr id="15" name="TextBox 14"/>
          <p:cNvSpPr txBox="1"/>
          <p:nvPr/>
        </p:nvSpPr>
        <p:spPr>
          <a:xfrm>
            <a:off x="9281160" y="4297680"/>
            <a:ext cx="1767535" cy="256032"/>
          </a:xfrm>
          <a:prstGeom prst="rect">
            <a:avLst/>
          </a:prstGeom>
          <a:noFill/>
        </p:spPr>
        <p:txBody>
          <a:bodyPr wrap="square" lIns="0" rIns="0" tIns="0" bIns="0" anchor="t">
            <a:spAutoFit/>
          </a:bodyPr>
          <a:lstStyle/>
          <a:p>
            <a:pPr algn="r">
              <a:spcBef>
                <a:spcPts val="0"/>
              </a:spcBef>
              <a:spcAft>
                <a:spcPts val="0"/>
              </a:spcAft>
            </a:pPr>
            <a:r>
              <a:rPr sz="1150" b="1">
                <a:solidFill>
                  <a:srgbClr val="0F172A"/>
                </a:solidFill>
                <a:latin typeface="Calibri"/>
              </a:rPr>
              <a:t>In production</a:t>
            </a:r>
          </a:p>
        </p:txBody>
      </p:sp>
      <p:sp>
        <p:nvSpPr>
          <p:cNvPr id="16" name="TextBox 15"/>
          <p:cNvSpPr txBox="1"/>
          <p:nvPr/>
        </p:nvSpPr>
        <p:spPr>
          <a:xfrm>
            <a:off x="7863840" y="4773168"/>
            <a:ext cx="1371600" cy="256032"/>
          </a:xfrm>
          <a:prstGeom prst="rect">
            <a:avLst/>
          </a:prstGeom>
          <a:noFill/>
        </p:spPr>
        <p:txBody>
          <a:bodyPr wrap="square" lIns="0" rIns="0" tIns="0" bIns="0" anchor="t">
            <a:spAutoFit/>
          </a:bodyPr>
          <a:lstStyle/>
          <a:p>
            <a:pPr algn="l">
              <a:spcBef>
                <a:spcPts val="0"/>
              </a:spcBef>
              <a:spcAft>
                <a:spcPts val="0"/>
              </a:spcAft>
            </a:pPr>
            <a:r>
              <a:rPr sz="1150" b="0">
                <a:solidFill>
                  <a:srgbClr val="64748B"/>
                </a:solidFill>
                <a:latin typeface="Calibri"/>
              </a:rPr>
              <a:t>Quarter</a:t>
            </a:r>
          </a:p>
        </p:txBody>
      </p:sp>
      <p:sp>
        <p:nvSpPr>
          <p:cNvPr id="17" name="TextBox 16"/>
          <p:cNvSpPr txBox="1"/>
          <p:nvPr/>
        </p:nvSpPr>
        <p:spPr>
          <a:xfrm>
            <a:off x="9281160" y="4773168"/>
            <a:ext cx="1767535" cy="256032"/>
          </a:xfrm>
          <a:prstGeom prst="rect">
            <a:avLst/>
          </a:prstGeom>
          <a:noFill/>
        </p:spPr>
        <p:txBody>
          <a:bodyPr wrap="square" lIns="0" rIns="0" tIns="0" bIns="0" anchor="t">
            <a:spAutoFit/>
          </a:bodyPr>
          <a:lstStyle/>
          <a:p>
            <a:pPr algn="r">
              <a:spcBef>
                <a:spcPts val="0"/>
              </a:spcBef>
              <a:spcAft>
                <a:spcPts val="0"/>
              </a:spcAft>
            </a:pPr>
            <a:r>
              <a:rPr sz="1150" b="1">
                <a:solidFill>
                  <a:srgbClr val="0F172A"/>
                </a:solidFill>
                <a:latin typeface="Calibri"/>
              </a:rPr>
              <a:t>Q3, on plan</a:t>
            </a:r>
          </a:p>
        </p:txBody>
      </p:sp>
      <p:sp>
        <p:nvSpPr>
          <p:cNvPr id="18" name="TextBox 17"/>
          <p:cNvSpPr txBox="1"/>
          <p:nvPr/>
        </p:nvSpPr>
        <p:spPr>
          <a:xfrm>
            <a:off x="777240" y="6272784"/>
            <a:ext cx="5486400" cy="237744"/>
          </a:xfrm>
          <a:prstGeom prst="rect">
            <a:avLst/>
          </a:prstGeom>
          <a:noFill/>
        </p:spPr>
        <p:txBody>
          <a:bodyPr wrap="square" lIns="0" rIns="0" tIns="0" bIns="0" anchor="t">
            <a:spAutoFit/>
          </a:bodyPr>
          <a:lstStyle/>
          <a:p>
            <a:pPr algn="l">
              <a:spcBef>
                <a:spcPts val="0"/>
              </a:spcBef>
              <a:spcAft>
                <a:spcPts val="0"/>
              </a:spcAft>
            </a:pPr>
            <a:r>
              <a:rPr sz="950" b="0">
                <a:solidFill>
                  <a:srgbClr val="94A3B8"/>
                </a:solidFill>
                <a:latin typeface="Calibri"/>
              </a:rPr>
              <a:t>Q3 FY26 Engineering Update  |  Board Pack  |  Confidential</a:t>
            </a:r>
          </a:p>
        </p:txBody>
      </p:sp>
      <p:sp>
        <p:nvSpPr>
          <p:cNvPr id="19" name="TextBox 18"/>
          <p:cNvSpPr txBox="1"/>
          <p:nvPr/>
        </p:nvSpPr>
        <p:spPr>
          <a:xfrm>
            <a:off x="10500055" y="6272784"/>
            <a:ext cx="914400" cy="237744"/>
          </a:xfrm>
          <a:prstGeom prst="rect">
            <a:avLst/>
          </a:prstGeom>
          <a:noFill/>
        </p:spPr>
        <p:txBody>
          <a:bodyPr wrap="square" lIns="0" rIns="0" tIns="0" bIns="0" anchor="t">
            <a:spAutoFit/>
          </a:bodyPr>
          <a:lstStyle/>
          <a:p>
            <a:pPr algn="r">
              <a:spcBef>
                <a:spcPts val="0"/>
              </a:spcBef>
              <a:spcAft>
                <a:spcPts val="0"/>
              </a:spcAft>
            </a:pPr>
            <a:r>
              <a:rPr sz="950" b="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56032"/>
          </a:xfrm>
          <a:prstGeom prst="rect">
            <a:avLst/>
          </a:prstGeom>
          <a:noFill/>
        </p:spPr>
        <p:txBody>
          <a:bodyPr wrap="square" lIns="0" rIns="0" tIns="0" bIns="0" anchor="t">
            <a:spAutoFit/>
          </a:bodyPr>
          <a:lstStyle/>
          <a:p>
            <a:pPr algn="l">
              <a:spcBef>
                <a:spcPts val="0"/>
              </a:spcBef>
              <a:spcAft>
                <a:spcPts val="0"/>
              </a:spcAft>
            </a:pPr>
            <a:r>
              <a:rPr sz="1150" b="1" cap="all">
                <a:solidFill>
                  <a:srgbClr val="1D4ED8"/>
                </a:solidFill>
                <a:latin typeface="Calibri"/>
              </a:rPr>
              <a:t>Performance &amp; reliability</a:t>
            </a:r>
          </a:p>
        </p:txBody>
      </p:sp>
      <p:sp>
        <p:nvSpPr>
          <p:cNvPr id="3" name="TextBox 2"/>
          <p:cNvSpPr txBox="1"/>
          <p:nvPr/>
        </p:nvSpPr>
        <p:spPr>
          <a:xfrm>
            <a:off x="777240" y="868680"/>
            <a:ext cx="10637215"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0F172A"/>
                </a:solidFill>
                <a:latin typeface="Calibri"/>
              </a:rPr>
              <a:t>Latency down 75%; two incidents contained</a:t>
            </a:r>
          </a:p>
        </p:txBody>
      </p:sp>
      <p:sp>
        <p:nvSpPr>
          <p:cNvPr id="4" name="TextBox 3"/>
          <p:cNvSpPr txBox="1"/>
          <p:nvPr/>
        </p:nvSpPr>
        <p:spPr>
          <a:xfrm>
            <a:off x="777240" y="1444752"/>
            <a:ext cx="10637215" cy="292608"/>
          </a:xfrm>
          <a:prstGeom prst="rect">
            <a:avLst/>
          </a:prstGeom>
          <a:noFill/>
        </p:spPr>
        <p:txBody>
          <a:bodyPr wrap="square" lIns="0" rIns="0" tIns="0" bIns="0" anchor="t">
            <a:spAutoFit/>
          </a:bodyPr>
          <a:lstStyle/>
          <a:p>
            <a:pPr algn="l">
              <a:lnSpc>
                <a:spcPct val="115000"/>
              </a:lnSpc>
              <a:spcBef>
                <a:spcPts val="0"/>
              </a:spcBef>
              <a:spcAft>
                <a:spcPts val="0"/>
              </a:spcAft>
            </a:pPr>
            <a:r>
              <a:rPr sz="1350" b="0">
                <a:solidFill>
                  <a:srgbClr val="64748B"/>
                </a:solidFill>
                <a:latin typeface="Calibri"/>
              </a:rPr>
              <a:t>p95 response time fell from 840ms to 210ms. Two incidents occurred; both are resolved.</a:t>
            </a:r>
          </a:p>
        </p:txBody>
      </p:sp>
      <p:sp>
        <p:nvSpPr>
          <p:cNvPr id="5" name="Rectangle 4"/>
          <p:cNvSpPr/>
          <p:nvPr/>
        </p:nvSpPr>
        <p:spPr>
          <a:xfrm>
            <a:off x="777240" y="1874519"/>
            <a:ext cx="1063721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2286000"/>
            <a:ext cx="6309360" cy="274320"/>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p95 latency (ms)</a:t>
            </a:r>
          </a:p>
        </p:txBody>
      </p:sp>
      <p:graphicFrame>
        <p:nvGraphicFramePr>
          <p:cNvPr id="7" name="Chart 6"/>
          <p:cNvGraphicFramePr>
            <a:graphicFrameLocks noGrp="1"/>
          </p:cNvGraphicFramePr>
          <p:nvPr/>
        </p:nvGraphicFramePr>
        <p:xfrm>
          <a:off x="777240" y="2596896"/>
          <a:ext cx="6309360" cy="2926080"/>
        </p:xfrm>
        <a:graphic>
          <a:graphicData uri="http://schemas.openxmlformats.org/drawingml/2006/chart">
            <c:chart xmlns:c="http://schemas.openxmlformats.org/drawingml/2006/chart" r:id="rId2"/>
          </a:graphicData>
        </a:graphic>
      </p:graphicFrame>
      <p:sp>
        <p:nvSpPr>
          <p:cNvPr id="8" name="Rectangle 7"/>
          <p:cNvSpPr/>
          <p:nvPr/>
        </p:nvSpPr>
        <p:spPr>
          <a:xfrm>
            <a:off x="7498080" y="2286000"/>
            <a:ext cx="3916375" cy="14173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498080" y="2286000"/>
            <a:ext cx="41148" cy="1417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90688" y="2560320"/>
            <a:ext cx="3422599" cy="219456"/>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Improvement</a:t>
            </a:r>
          </a:p>
        </p:txBody>
      </p:sp>
      <p:sp>
        <p:nvSpPr>
          <p:cNvPr id="11" name="TextBox 10"/>
          <p:cNvSpPr txBox="1"/>
          <p:nvPr/>
        </p:nvSpPr>
        <p:spPr>
          <a:xfrm>
            <a:off x="7790688" y="2852928"/>
            <a:ext cx="3422599" cy="566928"/>
          </a:xfrm>
          <a:prstGeom prst="rect">
            <a:avLst/>
          </a:prstGeom>
          <a:noFill/>
        </p:spPr>
        <p:txBody>
          <a:bodyPr wrap="square" lIns="0" rIns="0" tIns="0" bIns="0" anchor="t">
            <a:spAutoFit/>
          </a:bodyPr>
          <a:lstStyle/>
          <a:p>
            <a:pPr algn="l"/>
            <a:r>
              <a:rPr sz="4000" b="1">
                <a:solidFill>
                  <a:srgbClr val="0F172A"/>
                </a:solidFill>
                <a:latin typeface="Calibri"/>
              </a:rPr>
              <a:t>75</a:t>
            </a:r>
            <a:r>
              <a:rPr sz="1600" b="0">
                <a:solidFill>
                  <a:srgbClr val="64748B"/>
                </a:solidFill>
                <a:latin typeface="Calibri"/>
              </a:rPr>
              <a:t> % faster</a:t>
            </a:r>
          </a:p>
        </p:txBody>
      </p:sp>
      <p:sp>
        <p:nvSpPr>
          <p:cNvPr id="12" name="TextBox 11"/>
          <p:cNvSpPr txBox="1"/>
          <p:nvPr/>
        </p:nvSpPr>
        <p:spPr>
          <a:xfrm>
            <a:off x="7790688" y="3474720"/>
            <a:ext cx="3422599" cy="237744"/>
          </a:xfrm>
          <a:prstGeom prst="rect">
            <a:avLst/>
          </a:prstGeom>
          <a:noFill/>
        </p:spPr>
        <p:txBody>
          <a:bodyPr wrap="square" lIns="0" rIns="0" tIns="0" bIns="0" anchor="t">
            <a:spAutoFit/>
          </a:bodyPr>
          <a:lstStyle/>
          <a:p>
            <a:pPr algn="l">
              <a:spcBef>
                <a:spcPts val="0"/>
              </a:spcBef>
              <a:spcAft>
                <a:spcPts val="0"/>
              </a:spcAft>
            </a:pPr>
            <a:r>
              <a:rPr sz="1150" b="1">
                <a:solidFill>
                  <a:srgbClr val="047857"/>
                </a:solidFill>
                <a:latin typeface="Calibri"/>
              </a:rPr>
              <a:t>840ms → 210ms at p95</a:t>
            </a:r>
          </a:p>
        </p:txBody>
      </p:sp>
      <p:sp>
        <p:nvSpPr>
          <p:cNvPr id="13" name="Rectangle 12"/>
          <p:cNvSpPr/>
          <p:nvPr/>
        </p:nvSpPr>
        <p:spPr>
          <a:xfrm>
            <a:off x="7498080" y="3913632"/>
            <a:ext cx="3916375" cy="1609344"/>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498080" y="3913632"/>
            <a:ext cx="41148" cy="16093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790688" y="4169664"/>
            <a:ext cx="3367735" cy="237744"/>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Incidents</a:t>
            </a:r>
          </a:p>
        </p:txBody>
      </p:sp>
      <p:sp>
        <p:nvSpPr>
          <p:cNvPr id="16" name="TextBox 15"/>
          <p:cNvSpPr txBox="1"/>
          <p:nvPr/>
        </p:nvSpPr>
        <p:spPr>
          <a:xfrm>
            <a:off x="7790688" y="4462272"/>
            <a:ext cx="3367735" cy="457200"/>
          </a:xfrm>
          <a:prstGeom prst="rect">
            <a:avLst/>
          </a:prstGeom>
          <a:noFill/>
        </p:spPr>
        <p:txBody>
          <a:bodyPr wrap="square" lIns="0" rIns="0" tIns="0" bIns="0" anchor="t">
            <a:spAutoFit/>
          </a:bodyPr>
          <a:lstStyle/>
          <a:p>
            <a:pPr algn="l"/>
            <a:r>
              <a:rPr sz="3400" b="1">
                <a:solidFill>
                  <a:srgbClr val="0F172A"/>
                </a:solidFill>
                <a:latin typeface="Calibri"/>
              </a:rPr>
              <a:t>2</a:t>
            </a:r>
            <a:r>
              <a:rPr sz="1300">
                <a:solidFill>
                  <a:srgbClr val="64748B"/>
                </a:solidFill>
                <a:latin typeface="Calibri"/>
              </a:rPr>
              <a:t>  both resolved</a:t>
            </a:r>
          </a:p>
        </p:txBody>
      </p:sp>
      <p:sp>
        <p:nvSpPr>
          <p:cNvPr id="17" name="TextBox 16"/>
          <p:cNvSpPr txBox="1"/>
          <p:nvPr/>
        </p:nvSpPr>
        <p:spPr>
          <a:xfrm>
            <a:off x="7790688" y="5029200"/>
            <a:ext cx="3367735" cy="274320"/>
          </a:xfrm>
          <a:prstGeom prst="rect">
            <a:avLst/>
          </a:prstGeom>
          <a:noFill/>
        </p:spPr>
        <p:txBody>
          <a:bodyPr wrap="square" lIns="0" rIns="0" tIns="0" bIns="0" anchor="t">
            <a:spAutoFit/>
          </a:bodyPr>
          <a:lstStyle/>
          <a:p>
            <a:pPr algn="l">
              <a:spcBef>
                <a:spcPts val="0"/>
              </a:spcBef>
              <a:spcAft>
                <a:spcPts val="0"/>
              </a:spcAft>
            </a:pPr>
            <a:r>
              <a:rPr sz="1250" b="1">
                <a:solidFill>
                  <a:srgbClr val="B45309"/>
                </a:solidFill>
                <a:latin typeface="Calibri"/>
              </a:rPr>
              <a:t>4 hours total downtime</a:t>
            </a:r>
          </a:p>
        </p:txBody>
      </p:sp>
      <p:sp>
        <p:nvSpPr>
          <p:cNvPr id="18" name="TextBox 17"/>
          <p:cNvSpPr txBox="1"/>
          <p:nvPr/>
        </p:nvSpPr>
        <p:spPr>
          <a:xfrm>
            <a:off x="777240" y="6272784"/>
            <a:ext cx="5486400" cy="237744"/>
          </a:xfrm>
          <a:prstGeom prst="rect">
            <a:avLst/>
          </a:prstGeom>
          <a:noFill/>
        </p:spPr>
        <p:txBody>
          <a:bodyPr wrap="square" lIns="0" rIns="0" tIns="0" bIns="0" anchor="t">
            <a:spAutoFit/>
          </a:bodyPr>
          <a:lstStyle/>
          <a:p>
            <a:pPr algn="l">
              <a:spcBef>
                <a:spcPts val="0"/>
              </a:spcBef>
              <a:spcAft>
                <a:spcPts val="0"/>
              </a:spcAft>
            </a:pPr>
            <a:r>
              <a:rPr sz="950" b="0">
                <a:solidFill>
                  <a:srgbClr val="94A3B8"/>
                </a:solidFill>
                <a:latin typeface="Calibri"/>
              </a:rPr>
              <a:t>Q3 FY26 Engineering Update  |  Board Pack  |  Confidential</a:t>
            </a:r>
          </a:p>
        </p:txBody>
      </p:sp>
      <p:sp>
        <p:nvSpPr>
          <p:cNvPr id="19" name="TextBox 18"/>
          <p:cNvSpPr txBox="1"/>
          <p:nvPr/>
        </p:nvSpPr>
        <p:spPr>
          <a:xfrm>
            <a:off x="10500055" y="6272784"/>
            <a:ext cx="914400" cy="237744"/>
          </a:xfrm>
          <a:prstGeom prst="rect">
            <a:avLst/>
          </a:prstGeom>
          <a:noFill/>
        </p:spPr>
        <p:txBody>
          <a:bodyPr wrap="square" lIns="0" rIns="0" tIns="0" bIns="0" anchor="t">
            <a:spAutoFit/>
          </a:bodyPr>
          <a:lstStyle/>
          <a:p>
            <a:pPr algn="r">
              <a:spcBef>
                <a:spcPts val="0"/>
              </a:spcBef>
              <a:spcAft>
                <a:spcPts val="0"/>
              </a:spcAft>
            </a:pPr>
            <a:r>
              <a:rPr sz="950" b="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56032"/>
          </a:xfrm>
          <a:prstGeom prst="rect">
            <a:avLst/>
          </a:prstGeom>
          <a:noFill/>
        </p:spPr>
        <p:txBody>
          <a:bodyPr wrap="square" lIns="0" rIns="0" tIns="0" bIns="0" anchor="t">
            <a:spAutoFit/>
          </a:bodyPr>
          <a:lstStyle/>
          <a:p>
            <a:pPr algn="l">
              <a:spcBef>
                <a:spcPts val="0"/>
              </a:spcBef>
              <a:spcAft>
                <a:spcPts val="0"/>
              </a:spcAft>
            </a:pPr>
            <a:r>
              <a:rPr sz="1150" b="1" cap="all">
                <a:solidFill>
                  <a:srgbClr val="1D4ED8"/>
                </a:solidFill>
                <a:latin typeface="Calibri"/>
              </a:rPr>
              <a:t>Looking ahead</a:t>
            </a:r>
          </a:p>
        </p:txBody>
      </p:sp>
      <p:sp>
        <p:nvSpPr>
          <p:cNvPr id="3" name="TextBox 2"/>
          <p:cNvSpPr txBox="1"/>
          <p:nvPr/>
        </p:nvSpPr>
        <p:spPr>
          <a:xfrm>
            <a:off x="777240" y="868680"/>
            <a:ext cx="10637215" cy="502920"/>
          </a:xfrm>
          <a:prstGeom prst="rect">
            <a:avLst/>
          </a:prstGeom>
          <a:noFill/>
        </p:spPr>
        <p:txBody>
          <a:bodyPr wrap="square" lIns="0" rIns="0" tIns="0" bIns="0" anchor="t">
            <a:spAutoFit/>
          </a:bodyPr>
          <a:lstStyle/>
          <a:p>
            <a:pPr algn="l">
              <a:lnSpc>
                <a:spcPct val="100000"/>
              </a:lnSpc>
              <a:spcBef>
                <a:spcPts val="0"/>
              </a:spcBef>
              <a:spcAft>
                <a:spcPts val="0"/>
              </a:spcAft>
            </a:pPr>
            <a:r>
              <a:rPr sz="3000" b="1">
                <a:solidFill>
                  <a:srgbClr val="0F172A"/>
                </a:solidFill>
                <a:latin typeface="Calibri"/>
              </a:rPr>
              <a:t>Q4: migrating off the legacy queue</a:t>
            </a:r>
          </a:p>
        </p:txBody>
      </p:sp>
      <p:sp>
        <p:nvSpPr>
          <p:cNvPr id="4" name="TextBox 3"/>
          <p:cNvSpPr txBox="1"/>
          <p:nvPr/>
        </p:nvSpPr>
        <p:spPr>
          <a:xfrm>
            <a:off x="777240" y="1444752"/>
            <a:ext cx="10637215" cy="292608"/>
          </a:xfrm>
          <a:prstGeom prst="rect">
            <a:avLst/>
          </a:prstGeom>
          <a:noFill/>
        </p:spPr>
        <p:txBody>
          <a:bodyPr wrap="square" lIns="0" rIns="0" tIns="0" bIns="0" anchor="t">
            <a:spAutoFit/>
          </a:bodyPr>
          <a:lstStyle/>
          <a:p>
            <a:pPr algn="l">
              <a:lnSpc>
                <a:spcPct val="115000"/>
              </a:lnSpc>
              <a:spcBef>
                <a:spcPts val="0"/>
              </a:spcBef>
              <a:spcAft>
                <a:spcPts val="0"/>
              </a:spcAft>
            </a:pPr>
            <a:r>
              <a:rPr sz="1350" b="0">
                <a:solidFill>
                  <a:srgbClr val="64748B"/>
                </a:solidFill>
                <a:latin typeface="Calibri"/>
              </a:rPr>
              <a:t>One priority for the quarter, resourced by the team growth delivered in Q3.</a:t>
            </a:r>
          </a:p>
        </p:txBody>
      </p:sp>
      <p:sp>
        <p:nvSpPr>
          <p:cNvPr id="5" name="Rectangle 4"/>
          <p:cNvSpPr/>
          <p:nvPr/>
        </p:nvSpPr>
        <p:spPr>
          <a:xfrm>
            <a:off x="777240" y="1874519"/>
            <a:ext cx="1063721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2286000"/>
            <a:ext cx="6766560" cy="274320"/>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The Q4 commitment</a:t>
            </a:r>
          </a:p>
        </p:txBody>
      </p:sp>
      <p:sp>
        <p:nvSpPr>
          <p:cNvPr id="7" name="TextBox 6"/>
          <p:cNvSpPr txBox="1"/>
          <p:nvPr/>
        </p:nvSpPr>
        <p:spPr>
          <a:xfrm>
            <a:off x="777240" y="2670048"/>
            <a:ext cx="6766560" cy="2834640"/>
          </a:xfrm>
          <a:prstGeom prst="rect">
            <a:avLst/>
          </a:prstGeom>
          <a:noFill/>
        </p:spPr>
        <p:txBody>
          <a:bodyPr wrap="square" lIns="0" rIns="0" tIns="0" bIns="0" anchor="t">
            <a:spAutoFit/>
          </a:bodyPr>
          <a:lstStyle/>
          <a:p>
            <a:pPr algn="l">
              <a:lnSpc>
                <a:spcPct val="128000"/>
              </a:lnSpc>
              <a:spcBef>
                <a:spcPts val="0"/>
              </a:spcBef>
              <a:spcAft>
                <a:spcPts val="0"/>
              </a:spcAft>
            </a:pPr>
            <a:r>
              <a:rPr sz="1400" b="0">
                <a:solidFill>
                  <a:srgbClr val="0F172A"/>
                </a:solidFill>
                <a:latin typeface="Calibri"/>
              </a:rPr>
              <a:t>—   Q4's engineering priority is the migration off the legacy queue.</a:t>
            </a:r>
          </a:p>
          <a:p>
            <a:pPr>
              <a:lnSpc>
                <a:spcPct val="128000"/>
              </a:lnSpc>
              <a:spcBef>
                <a:spcPts val="900"/>
              </a:spcBef>
              <a:spcAft>
                <a:spcPts val="0"/>
              </a:spcAft>
            </a:pPr>
            <a:r>
              <a:rPr sz="1400" b="0">
                <a:solidFill>
                  <a:srgbClr val="0F172A"/>
                </a:solidFill>
                <a:latin typeface="Calibri"/>
              </a:rPr>
              <a:t>—   It is the last major piece of legacy infrastructure carried into the new stack after the auth replacement.</a:t>
            </a:r>
          </a:p>
          <a:p>
            <a:pPr>
              <a:lnSpc>
                <a:spcPct val="128000"/>
              </a:lnSpc>
              <a:spcBef>
                <a:spcPts val="900"/>
              </a:spcBef>
              <a:spcAft>
                <a:spcPts val="0"/>
              </a:spcAft>
            </a:pPr>
            <a:r>
              <a:rPr sz="1400" b="0">
                <a:solidFill>
                  <a:srgbClr val="0F172A"/>
                </a:solidFill>
                <a:latin typeface="Calibri"/>
              </a:rPr>
              <a:t>—   The Q3 headcount increase, 14 to 17, is what makes running this alongside normal delivery viable.</a:t>
            </a:r>
          </a:p>
          <a:p>
            <a:pPr>
              <a:lnSpc>
                <a:spcPct val="128000"/>
              </a:lnSpc>
              <a:spcBef>
                <a:spcPts val="900"/>
              </a:spcBef>
              <a:spcAft>
                <a:spcPts val="0"/>
              </a:spcAft>
            </a:pPr>
            <a:r>
              <a:rPr sz="1400" b="0">
                <a:solidFill>
                  <a:srgbClr val="0F172A"/>
                </a:solidFill>
                <a:latin typeface="Calibri"/>
              </a:rPr>
              <a:t>—   Migration work of this shape carries downtime and cutover risk; sequencing and rollback are being planned up front.</a:t>
            </a:r>
          </a:p>
        </p:txBody>
      </p:sp>
      <p:sp>
        <p:nvSpPr>
          <p:cNvPr id="8" name="Rectangle 7"/>
          <p:cNvSpPr/>
          <p:nvPr/>
        </p:nvSpPr>
        <p:spPr>
          <a:xfrm>
            <a:off x="7955280" y="2286000"/>
            <a:ext cx="3459175" cy="14173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955280" y="2286000"/>
            <a:ext cx="41148" cy="1417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47888" y="2560320"/>
            <a:ext cx="2965399" cy="219456"/>
          </a:xfrm>
          <a:prstGeom prst="rect">
            <a:avLst/>
          </a:prstGeom>
          <a:noFill/>
        </p:spPr>
        <p:txBody>
          <a:bodyPr wrap="square" lIns="0" rIns="0" tIns="0" bIns="0" anchor="t">
            <a:spAutoFit/>
          </a:bodyPr>
          <a:lstStyle/>
          <a:p>
            <a:pPr algn="l">
              <a:spcBef>
                <a:spcPts val="0"/>
              </a:spcBef>
              <a:spcAft>
                <a:spcPts val="0"/>
              </a:spcAft>
            </a:pPr>
            <a:r>
              <a:rPr sz="1050" b="1" cap="all">
                <a:solidFill>
                  <a:srgbClr val="64748B"/>
                </a:solidFill>
                <a:latin typeface="Calibri"/>
              </a:rPr>
              <a:t>Team</a:t>
            </a:r>
          </a:p>
        </p:txBody>
      </p:sp>
      <p:sp>
        <p:nvSpPr>
          <p:cNvPr id="11" name="TextBox 10"/>
          <p:cNvSpPr txBox="1"/>
          <p:nvPr/>
        </p:nvSpPr>
        <p:spPr>
          <a:xfrm>
            <a:off x="8247888" y="2852928"/>
            <a:ext cx="2965399" cy="566928"/>
          </a:xfrm>
          <a:prstGeom prst="rect">
            <a:avLst/>
          </a:prstGeom>
          <a:noFill/>
        </p:spPr>
        <p:txBody>
          <a:bodyPr wrap="square" lIns="0" rIns="0" tIns="0" bIns="0" anchor="t">
            <a:spAutoFit/>
          </a:bodyPr>
          <a:lstStyle/>
          <a:p>
            <a:pPr algn="l"/>
            <a:r>
              <a:rPr sz="4000" b="1">
                <a:solidFill>
                  <a:srgbClr val="0F172A"/>
                </a:solidFill>
                <a:latin typeface="Calibri"/>
              </a:rPr>
              <a:t>17</a:t>
            </a:r>
            <a:r>
              <a:rPr sz="1600" b="0">
                <a:solidFill>
                  <a:srgbClr val="64748B"/>
                </a:solidFill>
                <a:latin typeface="Calibri"/>
              </a:rPr>
              <a:t> engineers</a:t>
            </a:r>
          </a:p>
        </p:txBody>
      </p:sp>
      <p:sp>
        <p:nvSpPr>
          <p:cNvPr id="12" name="TextBox 11"/>
          <p:cNvSpPr txBox="1"/>
          <p:nvPr/>
        </p:nvSpPr>
        <p:spPr>
          <a:xfrm>
            <a:off x="8247888" y="3474720"/>
            <a:ext cx="2965399" cy="237744"/>
          </a:xfrm>
          <a:prstGeom prst="rect">
            <a:avLst/>
          </a:prstGeom>
          <a:noFill/>
        </p:spPr>
        <p:txBody>
          <a:bodyPr wrap="square" lIns="0" rIns="0" tIns="0" bIns="0" anchor="t">
            <a:spAutoFit/>
          </a:bodyPr>
          <a:lstStyle/>
          <a:p>
            <a:pPr algn="l">
              <a:spcBef>
                <a:spcPts val="0"/>
              </a:spcBef>
              <a:spcAft>
                <a:spcPts val="0"/>
              </a:spcAft>
            </a:pPr>
            <a:r>
              <a:rPr sz="1150" b="1">
                <a:solidFill>
                  <a:srgbClr val="047857"/>
                </a:solidFill>
                <a:latin typeface="Calibri"/>
              </a:rPr>
              <a:t>↑ 3 in Q3 (from 14)</a:t>
            </a:r>
          </a:p>
        </p:txBody>
      </p:sp>
      <p:sp>
        <p:nvSpPr>
          <p:cNvPr id="13" name="Rectangle 12"/>
          <p:cNvSpPr/>
          <p:nvPr/>
        </p:nvSpPr>
        <p:spPr>
          <a:xfrm>
            <a:off x="7955280" y="3913632"/>
            <a:ext cx="3459175" cy="160934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84464" y="4187952"/>
            <a:ext cx="2800807" cy="237744"/>
          </a:xfrm>
          <a:prstGeom prst="rect">
            <a:avLst/>
          </a:prstGeom>
          <a:noFill/>
        </p:spPr>
        <p:txBody>
          <a:bodyPr wrap="square" lIns="0" rIns="0" tIns="0" bIns="0" anchor="t">
            <a:spAutoFit/>
          </a:bodyPr>
          <a:lstStyle/>
          <a:p>
            <a:pPr algn="l">
              <a:spcBef>
                <a:spcPts val="0"/>
              </a:spcBef>
              <a:spcAft>
                <a:spcPts val="0"/>
              </a:spcAft>
            </a:pPr>
            <a:r>
              <a:rPr sz="1050" b="1" cap="all">
                <a:solidFill>
                  <a:srgbClr val="93C5FD"/>
                </a:solidFill>
                <a:latin typeface="Calibri"/>
              </a:rPr>
              <a:t>Focus</a:t>
            </a:r>
          </a:p>
        </p:txBody>
      </p:sp>
      <p:sp>
        <p:nvSpPr>
          <p:cNvPr id="15" name="TextBox 14"/>
          <p:cNvSpPr txBox="1"/>
          <p:nvPr/>
        </p:nvSpPr>
        <p:spPr>
          <a:xfrm>
            <a:off x="8284464" y="4517136"/>
            <a:ext cx="2800807" cy="868680"/>
          </a:xfrm>
          <a:prstGeom prst="rect">
            <a:avLst/>
          </a:prstGeom>
          <a:noFill/>
        </p:spPr>
        <p:txBody>
          <a:bodyPr wrap="square" lIns="0" rIns="0" tIns="0" bIns="0" anchor="t">
            <a:spAutoFit/>
          </a:bodyPr>
          <a:lstStyle/>
          <a:p>
            <a:pPr algn="l">
              <a:lnSpc>
                <a:spcPct val="115000"/>
              </a:lnSpc>
              <a:spcBef>
                <a:spcPts val="0"/>
              </a:spcBef>
              <a:spcAft>
                <a:spcPts val="0"/>
              </a:spcAft>
            </a:pPr>
            <a:r>
              <a:rPr sz="2100" b="1">
                <a:solidFill>
                  <a:srgbClr val="FFFFFF"/>
                </a:solidFill>
                <a:latin typeface="Calibri"/>
              </a:rPr>
              <a:t>Legacy queue</a:t>
            </a:r>
            <a:br/>
            <a:r>
              <a:t>migration</a:t>
            </a:r>
          </a:p>
        </p:txBody>
      </p:sp>
      <p:sp>
        <p:nvSpPr>
          <p:cNvPr id="16" name="TextBox 15"/>
          <p:cNvSpPr txBox="1"/>
          <p:nvPr/>
        </p:nvSpPr>
        <p:spPr>
          <a:xfrm>
            <a:off x="777240" y="6272784"/>
            <a:ext cx="5486400" cy="237744"/>
          </a:xfrm>
          <a:prstGeom prst="rect">
            <a:avLst/>
          </a:prstGeom>
          <a:noFill/>
        </p:spPr>
        <p:txBody>
          <a:bodyPr wrap="square" lIns="0" rIns="0" tIns="0" bIns="0" anchor="t">
            <a:spAutoFit/>
          </a:bodyPr>
          <a:lstStyle/>
          <a:p>
            <a:pPr algn="l">
              <a:spcBef>
                <a:spcPts val="0"/>
              </a:spcBef>
              <a:spcAft>
                <a:spcPts val="0"/>
              </a:spcAft>
            </a:pPr>
            <a:r>
              <a:rPr sz="950" b="0">
                <a:solidFill>
                  <a:srgbClr val="94A3B8"/>
                </a:solidFill>
                <a:latin typeface="Calibri"/>
              </a:rPr>
              <a:t>Q3 FY26 Engineering Update  |  Board Pack  |  Confidential</a:t>
            </a:r>
          </a:p>
        </p:txBody>
      </p:sp>
      <p:sp>
        <p:nvSpPr>
          <p:cNvPr id="17" name="TextBox 16"/>
          <p:cNvSpPr txBox="1"/>
          <p:nvPr/>
        </p:nvSpPr>
        <p:spPr>
          <a:xfrm>
            <a:off x="10500055" y="6272784"/>
            <a:ext cx="914400" cy="237744"/>
          </a:xfrm>
          <a:prstGeom prst="rect">
            <a:avLst/>
          </a:prstGeom>
          <a:noFill/>
        </p:spPr>
        <p:txBody>
          <a:bodyPr wrap="square" lIns="0" rIns="0" tIns="0" bIns="0" anchor="t">
            <a:spAutoFit/>
          </a:bodyPr>
          <a:lstStyle/>
          <a:p>
            <a:pPr algn="r">
              <a:spcBef>
                <a:spcPts val="0"/>
              </a:spcBef>
              <a:spcAft>
                <a:spcPts val="0"/>
              </a:spcAft>
            </a:pPr>
            <a:r>
              <a:rPr sz="950" b="0">
                <a:solidFill>
                  <a:srgbClr val="94A3B8"/>
                </a:solidFill>
                <a:latin typeface="Calibr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